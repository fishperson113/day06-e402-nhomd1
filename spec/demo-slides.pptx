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371600"/>
            <a:ext cx="137160" cy="41148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2000"/>
              </a:spcAft>
              <a:defRPr sz="1200" b="1">
                <a:solidFill>
                  <a:srgbClr val="0EA5E9"/>
                </a:solidFill>
                <a:latin typeface="Segoe UI"/>
              </a:defRPr>
            </a:pPr>
            <a:r>
              <a:t>PERSONAL FINANCE MANAGEMENT (PFM)</a:t>
            </a:r>
          </a:p>
          <a:p>
            <a:pPr>
              <a:spcAft>
                <a:spcPts val="1000"/>
              </a:spcAft>
              <a:defRPr sz="5400" b="1">
                <a:solidFill>
                  <a:srgbClr val="FFFFFF"/>
                </a:solidFill>
                <a:latin typeface="Segoe UI"/>
              </a:defRPr>
            </a:pPr>
            <a:r>
              <a:t>Moni Bot &amp; Web Hub</a:t>
            </a:r>
          </a:p>
          <a:p>
            <a:pPr>
              <a:spcAft>
                <a:spcPts val="4000"/>
              </a:spcAft>
              <a:defRPr sz="2200" b="1">
                <a:solidFill>
                  <a:srgbClr val="0EA5E9"/>
                </a:solidFill>
                <a:latin typeface="Segoe UI"/>
              </a:defRPr>
            </a:pPr>
            <a:r>
              <a:t>Trợ lý Ghi chép Tài chính Thông minh qua Telegram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Nhóm thực hiện: Nhóm 5 anh em</a:t>
            </a:r>
          </a:p>
          <a:p>
            <a:pPr>
              <a:defRPr sz="1400">
                <a:solidFill>
                  <a:srgbClr val="64748B"/>
                </a:solidFill>
                <a:latin typeface="Segoe UI"/>
              </a:defRPr>
            </a:pPr>
            <a:r>
              <a:t>Cải tiến dựa trên: Trợ thủ tài chính Moni của MoMo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1. EVIDENCE &amp; PAIN POINTS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Bằng chứng &amp; Nỗi đau của Người dùng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30936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000"/>
              </a:spcBef>
              <a:spcAft>
                <a:spcPts val="150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Trải nghiệm trực tiếp (Self-use)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4444"/>
                </a:solidFill>
                <a:latin typeface="Segoe UI"/>
              </a:rPr>
              <a:t>🔴 Quá nhiều bước (Friction):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Mất 5-6 bước trên app (mở app, nhập tiền, chọn danh mục, lưu) tốn 15-30s cho một giao dịch.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EF4444"/>
                </a:solidFill>
                <a:latin typeface="Segoe UI"/>
              </a:rPr>
              <a:t>🔴 Gián đoạn hành vi: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Khi đang xách đồ, thanh toán ➡️ hoãn nhập liệu ➡️ quên 40-60% giao dịch nhỏ lẻ vào cuối ngày.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0B981"/>
                </a:solidFill>
                <a:latin typeface="Segoe UI"/>
              </a:rPr>
              <a:t>🟢 Tiện lợi của chat: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Nhắn tin nhanh vào Telegram cực kỳ nhanh (&lt;3 giây) và không làm gián đoạn công việc.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828800"/>
            <a:ext cx="457200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000"/>
              </a:spcBef>
              <a:spcAft>
                <a:spcPts val="1500"/>
              </a:spcAft>
            </a:pPr>
            <a:r>
              <a:rPr sz="2000" b="1" i="0">
                <a:solidFill>
                  <a:srgbClr val="0F172A"/>
                </a:solidFill>
                <a:latin typeface="Segoe UI"/>
              </a:rPr>
              <a:t>Bằng chứng bên ngoài (External Evidence)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EA5E9"/>
                </a:solidFill>
                <a:latin typeface="Segoe UI"/>
              </a:rPr>
              <a:t>💬 Nhắn clone làm log: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Người dùng nhắn số tiền vào clone Zalo/Messenger để lưu tạm, cuối tuần tự tổng hợp tay vào Excel.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00" b="1" i="0">
                <a:solidFill>
                  <a:srgbClr val="0EA5E9"/>
                </a:solidFill>
                <a:latin typeface="Segoe UI"/>
              </a:rPr>
              <a:t>🎤 Phỏng vấn thực tế: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Anh Du (đi chợ) xách đồ cồng kềnh, không thể mở app MoMo/ngân hàng để ghi chép ngay ➡️ quên sạch.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0EA5E9"/>
                </a:solidFill>
                <a:latin typeface="Segoe UI"/>
              </a:rPr>
              <a:t>💳 VietQR thiếu chi tiết: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Lịch sử chuyển khoản chỉ ghi tổng tiền chung chung (VD: 120k) ➡️ mất chi tiết (80k cá, 40k rau).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2. PROTOTYPE SCOPE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Lát cắt để Build (Build Slice)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2011680"/>
          </a:xfrm>
          <a:prstGeom prst="roundRect">
            <a:avLst/>
          </a:prstGeom>
          <a:solidFill>
            <a:srgbClr val="F0F6FC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1014984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200" b="1" i="0">
                <a:solidFill>
                  <a:srgbClr val="0EA5E9"/>
                </a:solidFill>
                <a:latin typeface="Segoe UI"/>
              </a:rPr>
              <a:t>Ý TƯỞNG CỐT LÕI CỦA PROTOTYPE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1E293B"/>
                </a:solidFill>
                <a:latin typeface="Segoe UI"/>
              </a:rPr>
              <a:t>Ghi chú nhanh khoản tiền qua chat tự do ➡️ </a:t>
            </a:r>
            <a:r>
              <a:rPr sz="1550" b="1" i="0">
                <a:solidFill>
                  <a:srgbClr val="0EA5E9"/>
                </a:solidFill>
                <a:latin typeface="Segoe UI"/>
              </a:rPr>
              <a:t>AI Telegram Bot</a:t>
            </a:r>
            <a:r>
              <a:rPr sz="1550" b="0" i="0">
                <a:solidFill>
                  <a:srgbClr val="1E293B"/>
                </a:solidFill>
                <a:latin typeface="Segoe UI"/>
              </a:rPr>
              <a:t> tự động bóc tách thông tin (Số tiền, Loại, Nhãn) thành </a:t>
            </a:r>
            <a:r>
              <a:rPr sz="1550" b="1" i="0">
                <a:solidFill>
                  <a:srgbClr val="0EA5E9"/>
                </a:solidFill>
                <a:latin typeface="Segoe UI"/>
              </a:rPr>
              <a:t>JSON</a:t>
            </a:r>
            <a:r>
              <a:rPr sz="1550" b="0" i="0">
                <a:solidFill>
                  <a:srgbClr val="1E293B"/>
                </a:solidFill>
                <a:latin typeface="Segoe UI"/>
              </a:rPr>
              <a:t> ➡️ Lưu Database &amp; hiển thị tức thời lên </a:t>
            </a:r>
            <a:r>
              <a:rPr sz="1550" b="1" i="0">
                <a:solidFill>
                  <a:srgbClr val="0EA5E9"/>
                </a:solidFill>
                <a:latin typeface="Segoe UI"/>
              </a:rPr>
              <a:t>Web Hub Dashboard</a:t>
            </a:r>
            <a:r>
              <a:rPr sz="1550" b="0" i="0">
                <a:solidFill>
                  <a:srgbClr val="1E293B"/>
                </a:solidFill>
                <a:latin typeface="Segoe UI"/>
              </a:rPr>
              <a:t> báo cáo tài chính.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23774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93192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Bước 1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Người dùng nhắn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Gửi tin nhắn tự do trên Telegram (VD: 'ăn sáng 35k')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EA5E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3931920"/>
            <a:ext cx="23774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393192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Bước 2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AI Telegram Bot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LLM tự động trích xuất: Số tiền, Loại, Danh mục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EA5E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931920"/>
            <a:ext cx="23774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93192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Bước 3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JSON &amp; Database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Chuẩn hóa dữ liệu JSON &amp; ghi nhận vào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846320"/>
            <a:ext cx="365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EA5E9"/>
                </a:solidFill>
                <a:latin typeface="Segoe UI"/>
              </a:defRPr>
            </a:pPr>
            <a:r>
              <a:t>➔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3931920"/>
            <a:ext cx="2377440" cy="21945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0" y="3931920"/>
            <a:ext cx="21945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100" b="1" i="0">
                <a:solidFill>
                  <a:srgbClr val="0EA5E9"/>
                </a:solidFill>
                <a:latin typeface="Segoe UI"/>
              </a:rPr>
              <a:t>Bước 4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Web Hub Dashboard</a:t>
            </a:r>
          </a:p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Đồng bộ hiển thị tức thời báo cáo &amp; biểu đồ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3. PRODUCT STRATEGY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AI Product Canvas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Value — Giá trị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Đối tượng: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Cá nhân bận rộn, đi chợ, mua sắm nhỏ lẻ.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Nỗi đau: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Friction nhập liệu app làm người dùng lười ghi chép.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AI giải quyết: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Bóc tách &amp; phân loại tự động từ văn bản tự do, giảm 100%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45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Trust — Niềm tin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Xác nhận trực quan: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Bot phản hồi xác nhận chi tiết tức thời.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Sửa lỗi nhanh: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Inline keyboard hỗ trợ nút [Hoàn tác ↩️], [Đổi danh mục 📁].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Web Hub: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Cho phép sửa/xóa trực tiếp trên Dashboard.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Feasibility — Tính khả thi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Chi phí &amp; Độ trễ: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Dùng LLM gọn nhẹ, đảm bảo phản hồi dưới 1.5s.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Rủi ro chính: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AI hiểu nhầm viết tắt (ví dụ: '30' thành 30đ thay vì 30k).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Giải pháp: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Prompt nhân 1000 mặc định cho số 1-999 không đơn vị.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3931920"/>
            <a:ext cx="47548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1000"/>
              </a:spcAft>
            </a:pPr>
            <a:r>
              <a:rPr sz="1600" b="1" i="0">
                <a:solidFill>
                  <a:srgbClr val="0F172A"/>
                </a:solidFill>
                <a:latin typeface="Segoe UI"/>
              </a:rPr>
              <a:t>Tín hiệu học (Feedback Loop)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Nguồn dữ liệu: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Lưu log lịch sử sửa đổi danh mục/số tiền từ user.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• Nâng cấp sản phẩm: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Cập nhật Few-shot prompt hoặc cập nhật Evaluation Dataset để nâng cấp AI.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4. INTERACTION MODEL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Tăng năng lực hay Tự động hóa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73152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3327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1400" b="0" i="0">
                <a:solidFill>
                  <a:srgbClr val="FFFFFF"/>
                </a:solidFill>
                <a:latin typeface="Segoe UI"/>
              </a:rPr>
              <a:t>Phương thức tiếp cận: </a:t>
            </a:r>
            <a:r>
              <a:rPr sz="1500" b="1" i="0">
                <a:solidFill>
                  <a:srgbClr val="0EA5E9"/>
                </a:solidFill>
                <a:latin typeface="Segoe UI"/>
              </a:rPr>
              <a:t>Conditional Automation (Tự động hóa có điều kiện)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512064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000"/>
              </a:spcBef>
              <a:spcAft>
                <a:spcPts val="1500"/>
              </a:spcAft>
            </a:pPr>
            <a:r>
              <a:rPr sz="1800" b="1" i="0">
                <a:solidFill>
                  <a:srgbClr val="10B981"/>
                </a:solidFill>
                <a:latin typeface="Segoe UI"/>
              </a:rPr>
              <a:t>AI tự động hành động (Automation)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Điều kiện: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Tin nhắn rõ ràng, AI tự tin &gt;80% (VD: 'ăn sáng 35k').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UX Workflow: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Tự động phân loại, lưu DB và cập nhật Web Hub realtime mà không cần hỏi user.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Cơ chế an toàn: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Bot phản hồi xác nhận kèm nút [Hoàn tác ↩️] hoặc [Đổi danh mục 📁] để sửa nhanh.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468880"/>
            <a:ext cx="5120640" cy="3566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560320"/>
            <a:ext cx="4572000" cy="3383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1000"/>
              </a:spcBef>
              <a:spcAft>
                <a:spcPts val="1500"/>
              </a:spcAft>
            </a:pPr>
            <a:r>
              <a:rPr sz="1800" b="1" i="0">
                <a:solidFill>
                  <a:srgbClr val="0EA5E9"/>
                </a:solidFill>
                <a:latin typeface="Segoe UI"/>
              </a:rPr>
              <a:t>AI chuẩn bị &amp; gợi ý (Augmentation)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Điều kiện: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Tin nhắn mơ hồ, thiếu thông tin cốt lõi (VD: 'tiền phòng 2 triệu' -&gt; không rõ Thu hay Chi).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UX Workflow: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AI không tự ý lưu dữ liệu lỗi. Bot hiển thị câu hỏi xác nhận kèm nút lựa chọn nhanh.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• Quyết định: </a:t>
            </a:r>
            <a:r>
              <a:rPr sz="1300" b="0" i="0">
                <a:solidFill>
                  <a:srgbClr val="1E293B"/>
                </a:solidFill>
                <a:latin typeface="Segoe UI"/>
              </a:rPr>
              <a:t>Người dùng bấm nút lựa chọn (Thu nhập/Chi tiêu) ➡️ hệ thống tiến hành lưu DB.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5. USER EXPERIENCE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Bốn đường đi của trải nghiệm (Four Paths)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000" b="1" i="0">
                <a:solidFill>
                  <a:srgbClr val="10B981"/>
                </a:solidFill>
                <a:latin typeface="Segoe UI"/>
              </a:rPr>
              <a:t>ĐƯỜNG ĐI 1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Đường Thuận
(Happy Path)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Đầu vào: </a:t>
            </a:r>
            <a:r>
              <a:rPr sz="1200" b="1" i="0">
                <a:solidFill>
                  <a:srgbClr val="0EA5E9"/>
                </a:solidFill>
                <a:latin typeface="Segoe UI"/>
              </a:rPr>
              <a:t>"ăn sáng 35k"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AI bóc tách chính xác: Chi tiêu, Ăn uống, 35,000đ. Hệ thống tự động lưu, hiển thị tin nhắn xác nhận kèm nút đổi danh mục/hoàn tác.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4592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000" b="1" i="0">
                <a:solidFill>
                  <a:srgbClr val="0EA5E9"/>
                </a:solidFill>
                <a:latin typeface="Segoe UI"/>
              </a:rPr>
              <a:t>ĐƯỜNG ĐI 2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AI không chắc
(Low Confidence)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Đầu vào: </a:t>
            </a:r>
            <a:r>
              <a:rPr sz="1200" b="1" i="0">
                <a:solidFill>
                  <a:srgbClr val="0EA5E9"/>
                </a:solidFill>
                <a:latin typeface="Segoe UI"/>
              </a:rPr>
              <a:t>"tiền nhà 2 triệu"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AI phát hiện thiếu hướng dòng tiền. Bot gửi câu hỏi kèm nút: [Chi tiền nhà 🔴] [Thu tiền nhà 🟢]. User chọn ➡️ hệ thống lưu 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64592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000" b="1" i="0">
                <a:solidFill>
                  <a:srgbClr val="EF4444"/>
                </a:solidFill>
                <a:latin typeface="Segoe UI"/>
              </a:rPr>
              <a:t>ĐƯỜNG ĐI 3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AI báo lỗi
(Failure Path)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Đầu vào: </a:t>
            </a:r>
            <a:r>
              <a:rPr sz="1200" b="1" i="0">
                <a:solidFill>
                  <a:srgbClr val="0EA5E9"/>
                </a:solidFill>
                <a:latin typeface="Segoe UI"/>
              </a:rPr>
              <a:t>"đi chợ mua đồ ăn"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Tin nhắn thiếu số tiền. AI báo lỗi nhẹ nhàng và hiển thị tin nhắn hướng dẫn cú pháp mẫu kèm ví dụ: 'đi chợ 100k'.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98280" y="1645920"/>
            <a:ext cx="219456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000" b="1" i="0">
                <a:solidFill>
                  <a:srgbClr val="0F172A"/>
                </a:solidFill>
                <a:latin typeface="Segoe UI"/>
              </a:rPr>
              <a:t>ĐƯỜNG ĐI 4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1" i="0">
                <a:solidFill>
                  <a:srgbClr val="0F172A"/>
                </a:solidFill>
                <a:latin typeface="Segoe UI"/>
              </a:rPr>
              <a:t>Người dùng sửa
(Correction Path)</a:t>
            </a:r>
          </a:p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 i="1">
                <a:solidFill>
                  <a:srgbClr val="64748B"/>
                </a:solidFill>
                <a:latin typeface="Segoe UI"/>
              </a:rPr>
              <a:t>Đầu vào: </a:t>
            </a:r>
            <a:r>
              <a:rPr sz="1200" b="1" i="0">
                <a:solidFill>
                  <a:srgbClr val="0EA5E9"/>
                </a:solidFill>
                <a:latin typeface="Segoe UI"/>
              </a:rPr>
              <a:t>"đóng tiền học 1tr"</a:t>
            </a:r>
          </a:p>
          <a:p>
            <a:pPr algn="l">
              <a:spcBef>
                <a:spcPts val="500"/>
              </a:spcBef>
              <a:spcAft>
                <a:spcPts val="6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AI phân loại nhầm danh mục. Người dùng bấm [Đổi danh mục 📁] ➡️ Chọn [Giáo dục 🎓] ➡️ DB &amp; Web Hub cập nhật tức thời.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6. RISK MITIGATION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Các kiểu lỗi đáng lo nhất &amp; Khắc phục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10332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EF4444"/>
                </a:solidFill>
                <a:latin typeface="Segoe UI"/>
              </a:rPr>
              <a:t>⚠️ Kiểu lỗi 1: Sai lệch đơn vị tiền tệ / Số chữ số 0 (Nghiêm trọng nhất)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• Tình huống: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Gõ viết tắt 'rau 30' (ý là 30k) hoặc 'mua đồ 500' (ý là 500k). AI nhận diện là 30đ hoặc 500đ.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• Hậu quả: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Sai lệch số tiền báo cáo lên tới 1000 lần, phá hỏng biểu đồ tài chính cá nhân cuối tháng.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• Khắc phục: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1. Prompt AI tự nhân 1000 cho số 1-999 không đơn vị. 2. Tin nhắn xác nhận ghi rõ định dạng full số tiền (VD: '30,000 VNĐ'). 3. Thêm nút [Hoàn tác ↩️] và [Sửa số tiền ✏️] dưới tin nhắn.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023360"/>
            <a:ext cx="1069848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103327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600" b="1" i="0">
                <a:solidFill>
                  <a:srgbClr val="EF4444"/>
                </a:solidFill>
                <a:latin typeface="Segoe UI"/>
              </a:rPr>
              <a:t>⚠️ Kiểu lỗi 2: Nhầm lẫn bản chất giao dịch Thu vs. Chi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• Tình huống: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Giao dịch có ngữ pháp phức tạp: 'được hoàn tiền áo 200k', 'trả nợ Nam 100k', 'Nam trả nợ 100k'.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• Hậu quả: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Dòng tiền bị tính toán ngược, ảnh hưởng đến độ tin cậy của kế hoạch chi tiêu.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10B981"/>
                </a:solidFill>
                <a:latin typeface="Segoe UI"/>
              </a:rPr>
              <a:t>• Khắc phục: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1. Sử dụng Few-shot Prompt phân biệt cấu trúc 'A trả nợ' (Thu) và 'trả nợ A' (Chi). 2. Highlight giao dịch bằng tag màu trực quan (Chi 🔴 / Thu 🟢). 3. Nút đảo chiều Thu/Chi nhanh dưới tin nhắn.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7. QA &amp; VALIDATION</a:t>
            </a:r>
          </a:p>
          <a:p>
            <a:pPr>
              <a:spcBef>
                <a:spcPts val="400"/>
              </a:spcBef>
              <a:defRPr sz="2600" b="1">
                <a:solidFill>
                  <a:srgbClr val="0F172A"/>
                </a:solidFill>
                <a:latin typeface="Segoe UI"/>
              </a:defRPr>
            </a:pPr>
            <a:r>
              <a:t>Kịch bản kiểm thử Demo (Test Plan)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286000"/>
                <a:gridCol w="3291840"/>
                <a:gridCol w="3017520"/>
              </a:tblGrid>
              <a:tr h="877824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Kịch bản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Đầu vào (Input)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Kết quả kỳ vọng (Expected Output)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Mục tiêu chứng minh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Happy Path (Đường thuận)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"ăn cơm sườn 45k"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Loại: Chi tiêu 🔴</a:t>
                      </a:r>
                      <a:br/>
                      <a:r>
                        <a:t>- Số tiền: 45,000 VNĐ</a:t>
                      </a:r>
                      <a:br/>
                      <a:r>
                        <a:t>- Danh mục: Ăn uống 🍔</a:t>
                      </a:r>
                      <a:br/>
                      <a:r>
                        <a:t>- Ghi nhận ngay lên Web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AI bóc tách chính xác tự nhiên, lưu tức thời không cần xác nhận.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Low Confidence (AI không chắc)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"tiền phòng 2 triệu"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AI không chắc thu hay chi</a:t>
                      </a:r>
                      <a:br/>
                      <a:r>
                        <a:t>- Bot phản hồi hỏi rõ</a:t>
                      </a:r>
                      <a:br/>
                      <a:r>
                        <a:t>- Nút bấm: [Thu nhập] [Chi tiêu]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Hệ thống an toàn khi AI không chắc, tránh tự ý lưu dữ liệu sai.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Correction Path (Người dùng sửa)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"đóng tiền học 1 triệu"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AI phân loại nhầm: Hóa đơn ➡️ User bấm [Đổi danh mục] ➡️ chọn Giáo dục 🎓 ➡️ Web Hub đồng bộ ngay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Quy trình sửa lỗi của người dùng đơn giản qua Menu nút của Bot.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77824">
                <a:tc>
                  <a:txBody>
                    <a:bodyPr wrap="square"/>
                    <a:lstStyle/>
                    <a:p>
                      <a:pPr algn="ctr">
                        <a:defRPr sz="1100" b="1">
                          <a:solidFill>
                            <a:srgbClr val="0F172A"/>
                          </a:solidFill>
                          <a:latin typeface="Segoe UI"/>
                        </a:defRPr>
                      </a:pPr>
                      <a:r>
                        <a:t>Failure Recovery (AI sửa viết tắt)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"đổ xăng 50"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- AI tự nhân 1000 ➡️ 50,000đ</a:t>
                      </a:r>
                      <a:br/>
                      <a:r>
                        <a:t>- Bot ghi nhận Chi - Di chuyển</a:t>
                      </a:r>
                      <a:br/>
                      <a:r>
                        <a:t>- Nút [Hoàn tác ↩️] đề phòng tiêu 50đ thật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1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Xử lý thông minh chữ viết tắt, đồng thời cho phép hoàn tác nhanh.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65760"/>
            <a:ext cx="91440" cy="8229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Segoe UI"/>
              </a:defRPr>
            </a:pPr>
            <a:r>
              <a:t>8. TEAM ASSIGNMENTS</a:t>
            </a:r>
          </a:p>
          <a:p>
            <a:pPr>
              <a:spcBef>
                <a:spcPts val="400"/>
              </a:spcBef>
              <a:defRPr sz="2600" b="1">
                <a:solidFill>
                  <a:srgbClr val="FFFFFF"/>
                </a:solidFill>
                <a:latin typeface="Segoe UI"/>
              </a:defRPr>
            </a:pPr>
            <a:r>
              <a:t>Phân công nhiệm vụ &amp; Đóng góp thành viên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Phạm Triều Dương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0EA5E9"/>
                </a:solidFill>
                <a:latin typeface="Segoe UI"/>
              </a:rPr>
              <a:t>AI &amp; Bot Integration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• Thiết lập Telegram Bot &amp; Webhook
• System Prompt engineering
• Logic Inline Keyboard phản hồi &amp; chọn nhanh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Repo Folder:
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codebase/bot-telegram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71800" y="164592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Lê Sỹ Hân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0EA5E9"/>
                </a:solidFill>
                <a:latin typeface="Segoe UI"/>
              </a:rPr>
              <a:t>Backend Developer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• Thiết kế Database Schema lưu giao dịch
• Xây dựng REST API CRUD nhận dữ liệu
• API đồng bộ Web Hub Dashboard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Repo Folder:
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codebase/backend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0" y="164592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Nguyễn Thành Đạt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0EA5E9"/>
                </a:solidFill>
                <a:latin typeface="Segoe UI"/>
              </a:rPr>
              <a:t>Frontend Developer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• Phát triển Web Hub Dashboard
• Vẽ biểu đồ (Chart.js / Recharts)
• Lịch sử giao dịch &amp; chỉnh sửa trực tiếp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Repo Folder:
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codebase/frontend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7804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9480" y="164592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Nguyễn Viết Du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0EA5E9"/>
                </a:solidFill>
                <a:latin typeface="Segoe UI"/>
              </a:rPr>
              <a:t>Integration &amp; QA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• Cấu hình &amp; test Webhook end-to-end
• Chạy thử kịch bản lỗi, đo độ trễ
• Quay video/chụp ảnh demo dự phòng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Repo Folder:
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spec/demo-assets/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26880" y="1645920"/>
            <a:ext cx="20116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0" y="1645920"/>
            <a:ext cx="18288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100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Nguyễn Ngọc Duy</a:t>
            </a:r>
          </a:p>
          <a:p>
            <a:pPr algn="ctr">
              <a:spcBef>
                <a:spcPts val="0"/>
              </a:spcBef>
              <a:spcAft>
                <a:spcPts val="1200"/>
              </a:spcAft>
            </a:pPr>
            <a:r>
              <a:rPr sz="1100" b="0" i="1">
                <a:solidFill>
                  <a:srgbClr val="0EA5E9"/>
                </a:solidFill>
                <a:latin typeface="Segoe UI"/>
              </a:rPr>
              <a:t>PO &amp; Documentation</a:t>
            </a:r>
          </a:p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050" b="0" i="0">
                <a:solidFill>
                  <a:srgbClr val="FFFFFF"/>
                </a:solidFill>
                <a:latin typeface="Segoe UI"/>
              </a:rPr>
              <a:t>• Nghiên cứu hành vi, bằng chứng thực tế
• Viết &amp; hoàn thiện spec.md
• Thiết kế Slide thuyết trình demo</a:t>
            </a:r>
          </a:p>
          <a:p>
            <a:pPr algn="ctr">
              <a:spcBef>
                <a:spcPts val="1000"/>
              </a:spcBef>
              <a:spcAft>
                <a:spcPts val="600"/>
              </a:spcAft>
            </a:pPr>
            <a:r>
              <a:rPr sz="950" b="1" i="0">
                <a:solidFill>
                  <a:srgbClr val="0EA5E9"/>
                </a:solidFill>
                <a:latin typeface="Segoe UI"/>
              </a:rPr>
              <a:t>Repo Folder:
</a:t>
            </a:r>
            <a:r>
              <a:rPr sz="950" b="0" i="0">
                <a:solidFill>
                  <a:srgbClr val="FFFFFF"/>
                </a:solidFill>
                <a:latin typeface="Segoe UI"/>
              </a:rPr>
              <a:t>spec/spec.md
slide thuyết trình.pptx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